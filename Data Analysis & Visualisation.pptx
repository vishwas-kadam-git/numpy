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37"/>
  </p:notesMasterIdLst>
  <p:handoutMasterIdLst>
    <p:handoutMasterId r:id="rId38"/>
  </p:handoutMasterIdLst>
  <p:sldIdLst>
    <p:sldId id="312" r:id="rId5"/>
    <p:sldId id="304" r:id="rId6"/>
    <p:sldId id="318" r:id="rId7"/>
    <p:sldId id="307" r:id="rId8"/>
    <p:sldId id="281" r:id="rId9"/>
    <p:sldId id="313" r:id="rId10"/>
    <p:sldId id="314" r:id="rId11"/>
    <p:sldId id="316" r:id="rId12"/>
    <p:sldId id="319" r:id="rId13"/>
    <p:sldId id="320" r:id="rId14"/>
    <p:sldId id="323" r:id="rId15"/>
    <p:sldId id="322" r:id="rId16"/>
    <p:sldId id="321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342" r:id="rId33"/>
    <p:sldId id="339" r:id="rId34"/>
    <p:sldId id="340" r:id="rId35"/>
    <p:sldId id="341" r:id="rId3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9E188-1EC7-2B33-100B-E87346D8F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0CE0A-C683-B3F2-F49A-F2F89DD2E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F0C44-CD54-83E0-3329-53816ADB2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8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9n0l8rSshSnragNblKDBsT8Xu3otp3j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IN" b="0" dirty="0">
                <a:hlinkClick r:id="rId3"/>
              </a:rPr>
              <a:t>Data Analysis &amp; Visualisation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 err="1"/>
              <a:t>Numpy</a:t>
            </a:r>
            <a:endParaRPr lang="en-US" dirty="0"/>
          </a:p>
          <a:p>
            <a:r>
              <a:rPr lang="en-US" dirty="0"/>
              <a:t>Pandas</a:t>
            </a:r>
          </a:p>
          <a:p>
            <a:r>
              <a:rPr lang="en-US" dirty="0"/>
              <a:t>Matplotlib</a:t>
            </a:r>
          </a:p>
          <a:p>
            <a:r>
              <a:rPr lang="en-US" dirty="0" err="1"/>
              <a:t>SeaBorn</a:t>
            </a:r>
            <a:endParaRPr lang="en-US" dirty="0"/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4DE5-0DDE-05AA-2033-9354DAC34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124" y="-64156"/>
            <a:ext cx="9879437" cy="980844"/>
          </a:xfrm>
        </p:spPr>
        <p:txBody>
          <a:bodyPr/>
          <a:lstStyle/>
          <a:p>
            <a:r>
              <a:rPr lang="en-US" dirty="0"/>
              <a:t>SET UP ENV IN VS CODE 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81CE2-628C-2B52-EE37-17AF8C753D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8780" y="1168698"/>
            <a:ext cx="10349491" cy="5104283"/>
          </a:xfrm>
        </p:spPr>
        <p:txBody>
          <a:bodyPr>
            <a:normAutofit fontScale="92500"/>
          </a:bodyPr>
          <a:lstStyle/>
          <a:p>
            <a:r>
              <a:rPr lang="en-IN" sz="2400" dirty="0"/>
              <a:t>Step-0: Prerequisites (one-time) :- python –version</a:t>
            </a:r>
          </a:p>
          <a:p>
            <a:r>
              <a:rPr lang="en-US" sz="2400" dirty="0"/>
              <a:t>Step-1: Open your project folder in VS Code</a:t>
            </a:r>
          </a:p>
          <a:p>
            <a:r>
              <a:rPr lang="en-US" sz="2400" dirty="0"/>
              <a:t>Step-2: Open Terminal in VS Code</a:t>
            </a:r>
          </a:p>
          <a:p>
            <a:r>
              <a:rPr lang="en-IN" sz="2400" dirty="0"/>
              <a:t>Step-3: Create virtual environment :- python -m </a:t>
            </a:r>
            <a:r>
              <a:rPr lang="en-IN" sz="2400" dirty="0" err="1"/>
              <a:t>venv</a:t>
            </a:r>
            <a:r>
              <a:rPr lang="en-IN" sz="2400" dirty="0"/>
              <a:t> </a:t>
            </a:r>
            <a:r>
              <a:rPr lang="en-IN" sz="2400" dirty="0" err="1"/>
              <a:t>venv</a:t>
            </a:r>
            <a:endParaRPr lang="en-IN" sz="2400" dirty="0"/>
          </a:p>
          <a:p>
            <a:r>
              <a:rPr lang="en-IN" sz="2400" dirty="0"/>
              <a:t>Step-4: Activate virtual environment 🔹 Windows (PowerShell) :-  </a:t>
            </a:r>
            <a:r>
              <a:rPr lang="en-IN" sz="2400" dirty="0" err="1"/>
              <a:t>venv</a:t>
            </a:r>
            <a:r>
              <a:rPr lang="en-IN" sz="2400" dirty="0"/>
              <a:t>\Scripts\activate</a:t>
            </a:r>
          </a:p>
          <a:p>
            <a:r>
              <a:rPr lang="en-IN" sz="2400" dirty="0"/>
              <a:t>Step-5: Select </a:t>
            </a:r>
            <a:r>
              <a:rPr lang="en-IN" sz="2400" dirty="0" err="1"/>
              <a:t>venv</a:t>
            </a:r>
            <a:r>
              <a:rPr lang="en-IN" sz="2400" dirty="0"/>
              <a:t> interpreter in VS Code (IMPORTANT) :- 1)Press:-Ctrl + Shift + P  2) Type:-Python: Select Interpreter  3) Choose:-Python ... (</a:t>
            </a:r>
            <a:r>
              <a:rPr lang="en-IN" sz="2400" dirty="0" err="1"/>
              <a:t>venv</a:t>
            </a:r>
            <a:r>
              <a:rPr lang="en-IN" sz="2400" dirty="0"/>
              <a:t>)</a:t>
            </a:r>
          </a:p>
          <a:p>
            <a:r>
              <a:rPr lang="en-US" sz="2400" dirty="0"/>
              <a:t>Step-6: Install packages inside </a:t>
            </a:r>
            <a:r>
              <a:rPr lang="en-US" sz="2400" dirty="0" err="1"/>
              <a:t>venv</a:t>
            </a:r>
            <a:r>
              <a:rPr lang="en-US" sz="2400" dirty="0"/>
              <a:t> :- pip install </a:t>
            </a:r>
            <a:r>
              <a:rPr lang="en-US" sz="2400" dirty="0" err="1"/>
              <a:t>numpy</a:t>
            </a:r>
            <a:r>
              <a:rPr lang="en-US" sz="2400" dirty="0"/>
              <a:t> pandas matplotlib </a:t>
            </a:r>
            <a:r>
              <a:rPr lang="en-IN" sz="2400" dirty="0"/>
              <a:t>Check:- pip list</a:t>
            </a:r>
          </a:p>
          <a:p>
            <a:r>
              <a:rPr lang="en-US" sz="2400" dirty="0"/>
              <a:t>✅ Step-7: Verify </a:t>
            </a:r>
            <a:r>
              <a:rPr lang="en-US" sz="2400" dirty="0" err="1"/>
              <a:t>venv</a:t>
            </a:r>
            <a:r>
              <a:rPr lang="en-US" sz="2400" dirty="0"/>
              <a:t> is working :- </a:t>
            </a:r>
            <a:r>
              <a:rPr lang="en-IN" sz="2400" dirty="0"/>
              <a:t>Create test.py:-import </a:t>
            </a:r>
            <a:r>
              <a:rPr lang="en-IN" sz="2400" dirty="0" err="1"/>
              <a:t>numpy</a:t>
            </a:r>
            <a:r>
              <a:rPr lang="en-IN" sz="2400" dirty="0"/>
              <a:t>                   </a:t>
            </a:r>
          </a:p>
          <a:p>
            <a:pPr marL="0" indent="0">
              <a:buNone/>
            </a:pPr>
            <a:r>
              <a:rPr lang="en-IN" sz="2400" dirty="0"/>
              <a:t>                                                                                           print(</a:t>
            </a:r>
            <a:r>
              <a:rPr lang="en-IN" sz="2400" dirty="0" err="1"/>
              <a:t>numpy</a:t>
            </a:r>
            <a:r>
              <a:rPr lang="en-IN" sz="2400" dirty="0"/>
              <a:t>.__version__)</a:t>
            </a:r>
          </a:p>
          <a:p>
            <a:pPr marL="0" indent="0">
              <a:buNone/>
            </a:pPr>
            <a:r>
              <a:rPr lang="en-IN" sz="2400" dirty="0"/>
              <a:t>                                               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4BDCF-FDAA-3F76-CBBA-B70AF1FD67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02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24" y="2625213"/>
            <a:ext cx="5614489" cy="2585884"/>
          </a:xfrm>
        </p:spPr>
        <p:txBody>
          <a:bodyPr/>
          <a:lstStyle/>
          <a:p>
            <a:r>
              <a:rPr lang="en-US" dirty="0"/>
              <a:t>INTRODUCTION TO NUMPY</a:t>
            </a:r>
          </a:p>
        </p:txBody>
      </p:sp>
      <p:pic>
        <p:nvPicPr>
          <p:cNvPr id="2050" name="Picture 2" descr="How to create NumPy arrays from scratch? | Towards Data Science">
            <a:extLst>
              <a:ext uri="{FF2B5EF4-FFF2-40B4-BE49-F238E27FC236}">
                <a16:creationId xmlns:a16="http://schemas.microsoft.com/office/drawing/2014/main" id="{5261AB97-6D5B-E5E4-B44B-A3E4D986C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6" y="-132429"/>
            <a:ext cx="7286625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049250"/>
            <a:ext cx="10756490" cy="317456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NumPy is a Python library used for working with arrays. It also has functions for working in domain of linear algebra, </a:t>
            </a:r>
            <a:r>
              <a:rPr lang="en-US" dirty="0" err="1"/>
              <a:t>fourier</a:t>
            </a:r>
            <a:r>
              <a:rPr lang="en-US" dirty="0"/>
              <a:t> transform, and matrices. NumPy was created in 2005 by Travis Oliphant.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an open source project and you can use it freely.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NumPy stands for Numerical Python.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1026" name="Picture 2" descr="How to create NumPy arrays from scratch? | Towards Data Science">
            <a:extLst>
              <a:ext uri="{FF2B5EF4-FFF2-40B4-BE49-F238E27FC236}">
                <a16:creationId xmlns:a16="http://schemas.microsoft.com/office/drawing/2014/main" id="{D07CEA93-01EE-D3BD-400E-D3524A1B1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91" y="134600"/>
            <a:ext cx="5870563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C7783-CBE6-327B-BD47-A445B895F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57" y="2776364"/>
            <a:ext cx="11012129" cy="3427791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Python we have lists that serve the purpose of arrays, but they are slow to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NumPy aims to provide an array object that is up to 50x faster than traditional Python lists.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array object in NumPy is called </a:t>
            </a:r>
            <a:r>
              <a:rPr lang="en-US" dirty="0" err="1"/>
              <a:t>ndarray</a:t>
            </a:r>
            <a:r>
              <a:rPr lang="en-US" dirty="0"/>
              <a:t>, it provides a lot of supporting functions that make working with </a:t>
            </a:r>
            <a:r>
              <a:rPr lang="en-US" dirty="0" err="1"/>
              <a:t>ndarray</a:t>
            </a:r>
            <a:r>
              <a:rPr lang="en-US" dirty="0"/>
              <a:t> very easy.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Arrays are very frequently used in data science, where speed and resources are very important.</a:t>
            </a:r>
          </a:p>
          <a:p>
            <a:endParaRPr lang="en-IN" dirty="0"/>
          </a:p>
        </p:txBody>
      </p:sp>
      <p:pic>
        <p:nvPicPr>
          <p:cNvPr id="5" name="Picture 2" descr="How to create NumPy arrays from scratch? | Towards Data Science">
            <a:extLst>
              <a:ext uri="{FF2B5EF4-FFF2-40B4-BE49-F238E27FC236}">
                <a16:creationId xmlns:a16="http://schemas.microsoft.com/office/drawing/2014/main" id="{FE8FA009-21FA-E913-25A9-6E9B605A4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91" y="134600"/>
            <a:ext cx="5870563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945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84BE-696A-4D10-26F3-9C87CE15F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9692" y="554222"/>
            <a:ext cx="5259554" cy="2495028"/>
          </a:xfrm>
        </p:spPr>
        <p:txBody>
          <a:bodyPr/>
          <a:lstStyle/>
          <a:p>
            <a:r>
              <a:rPr lang="en-US" b="0" dirty="0"/>
              <a:t>Why is NumPy Faster Than Lists ?</a:t>
            </a:r>
            <a:br>
              <a:rPr lang="en-US" b="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77A9A-C01D-48CB-53C5-717DBC097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631" y="3049250"/>
            <a:ext cx="11080955" cy="334171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NumPy arrays are stored at one continuous place in memory unlike lists, so processes can access and manipulate them very efficiently.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behavior is called locality of reference in computer science.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is the main reason why NumPy is faster than lists. Also it is optimized to work with latest CPU architectures.</a:t>
            </a:r>
          </a:p>
          <a:p>
            <a:br>
              <a:rPr lang="en-US" dirty="0"/>
            </a:br>
            <a:endParaRPr lang="en-IN" dirty="0"/>
          </a:p>
        </p:txBody>
      </p:sp>
      <p:pic>
        <p:nvPicPr>
          <p:cNvPr id="5" name="Picture 2" descr="How to create NumPy arrays from scratch? | Towards Data Science">
            <a:extLst>
              <a:ext uri="{FF2B5EF4-FFF2-40B4-BE49-F238E27FC236}">
                <a16:creationId xmlns:a16="http://schemas.microsoft.com/office/drawing/2014/main" id="{7E5EE5E4-D7CD-6A8F-2F93-F0C5C413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37" y="134600"/>
            <a:ext cx="5870563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416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81CAC-0FEE-E9EC-F616-14B4D5A1D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F965B-9F4D-AC24-6B71-90A6409F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24" y="2625213"/>
            <a:ext cx="5614489" cy="2585884"/>
          </a:xfrm>
        </p:spPr>
        <p:txBody>
          <a:bodyPr/>
          <a:lstStyle/>
          <a:p>
            <a:r>
              <a:rPr lang="en-US" dirty="0"/>
              <a:t>BASIC OPRETIONS OF </a:t>
            </a:r>
            <a:r>
              <a:rPr lang="en-US" dirty="0" err="1"/>
              <a:t>NUMpY</a:t>
            </a:r>
            <a:endParaRPr lang="en-US" dirty="0"/>
          </a:p>
        </p:txBody>
      </p:sp>
      <p:pic>
        <p:nvPicPr>
          <p:cNvPr id="2050" name="Picture 2" descr="How to create NumPy arrays from scratch? | Towards Data Science">
            <a:extLst>
              <a:ext uri="{FF2B5EF4-FFF2-40B4-BE49-F238E27FC236}">
                <a16:creationId xmlns:a16="http://schemas.microsoft.com/office/drawing/2014/main" id="{0807CD3C-1B9B-5DBC-8306-5D32606F2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6" y="-132429"/>
            <a:ext cx="7286625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5834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318F8-7B25-FD40-B1B7-3D3C3400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4991" y="124613"/>
            <a:ext cx="7965461" cy="994164"/>
          </a:xfrm>
        </p:spPr>
        <p:txBody>
          <a:bodyPr/>
          <a:lstStyle/>
          <a:p>
            <a:r>
              <a:rPr lang="en-US" dirty="0"/>
              <a:t>array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E095-D6B5-A597-2383-89276236D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1261274"/>
            <a:ext cx="7965460" cy="4539453"/>
          </a:xfrm>
        </p:spPr>
        <p:txBody>
          <a:bodyPr/>
          <a:lstStyle/>
          <a:p>
            <a:r>
              <a:rPr lang="en-US" dirty="0"/>
              <a:t>NumPy is used to work with arrays. The array object in NumPy is called </a:t>
            </a:r>
            <a:r>
              <a:rPr lang="en-US" dirty="0" err="1"/>
              <a:t>ndarray</a:t>
            </a:r>
            <a:r>
              <a:rPr lang="en-US" dirty="0"/>
              <a:t>.</a:t>
            </a:r>
          </a:p>
          <a:p>
            <a:r>
              <a:rPr lang="en-IN" dirty="0"/>
              <a:t>Creation :-</a:t>
            </a:r>
            <a:r>
              <a:rPr lang="en-US" dirty="0"/>
              <a:t>We can create a NumPy </a:t>
            </a:r>
            <a:r>
              <a:rPr lang="en-US" dirty="0" err="1"/>
              <a:t>ndarray</a:t>
            </a:r>
            <a:r>
              <a:rPr lang="en-US" dirty="0"/>
              <a:t> object by using the array() function.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E993A-FC2D-BF32-8B24-F67A005028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7B5CB3-B1CB-6BEB-E1D7-8DA4845D3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488" y="2664542"/>
            <a:ext cx="6285024" cy="389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247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E440E-38B3-2493-3179-003F43F01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2142" y="960022"/>
            <a:ext cx="5476568" cy="2233233"/>
          </a:xfrm>
        </p:spPr>
        <p:txBody>
          <a:bodyPr/>
          <a:lstStyle/>
          <a:p>
            <a:r>
              <a:rPr lang="en-IN" dirty="0"/>
              <a:t>Ndim :-</a:t>
            </a:r>
            <a:r>
              <a:rPr lang="en-US" dirty="0"/>
              <a:t>NumPy Arrays provides the </a:t>
            </a:r>
            <a:r>
              <a:rPr lang="en-US" dirty="0" err="1"/>
              <a:t>ndim</a:t>
            </a:r>
            <a:r>
              <a:rPr lang="en-US" dirty="0"/>
              <a:t> attribute that returns an integer that tells us how many dimensions the array have.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E20601-A1F4-1EFB-0DDA-C68BF24F6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345" y="2830668"/>
            <a:ext cx="3925308" cy="22332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A75B30-7A73-AF16-DDE0-09DC36E83DBB}"/>
              </a:ext>
            </a:extLst>
          </p:cNvPr>
          <p:cNvSpPr txBox="1"/>
          <p:nvPr/>
        </p:nvSpPr>
        <p:spPr>
          <a:xfrm>
            <a:off x="498940" y="3577952"/>
            <a:ext cx="527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Type():- it returns type of  a 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3782FA-05F3-670A-BA0C-0AC7CBAE0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62" y="4158808"/>
            <a:ext cx="3642676" cy="1425063"/>
          </a:xfrm>
          <a:prstGeom prst="rect">
            <a:avLst/>
          </a:prstGeom>
        </p:spPr>
      </p:pic>
      <p:pic>
        <p:nvPicPr>
          <p:cNvPr id="12" name="Picture 2" descr="How to create NumPy arrays from scratch? | Towards Data Science">
            <a:extLst>
              <a:ext uri="{FF2B5EF4-FFF2-40B4-BE49-F238E27FC236}">
                <a16:creationId xmlns:a16="http://schemas.microsoft.com/office/drawing/2014/main" id="{B5FA3C27-AEF2-10B9-752F-66323DD05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91" y="-3934"/>
            <a:ext cx="7286625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096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12E26-58A7-9A42-9E6F-96756876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DBAD7-8A30-DAE5-B893-192ECA371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445" y="2312382"/>
            <a:ext cx="5476568" cy="2233233"/>
          </a:xfrm>
        </p:spPr>
        <p:txBody>
          <a:bodyPr/>
          <a:lstStyle/>
          <a:p>
            <a:r>
              <a:rPr lang="en-IN" dirty="0"/>
              <a:t>size :-</a:t>
            </a:r>
            <a:r>
              <a:rPr lang="en-US" dirty="0"/>
              <a:t>IT returns a size of array </a:t>
            </a:r>
            <a:endParaRPr lang="en-IN" dirty="0"/>
          </a:p>
        </p:txBody>
      </p:sp>
      <p:pic>
        <p:nvPicPr>
          <p:cNvPr id="12" name="Picture 2" descr="How to create NumPy arrays from scratch? | Towards Data Science">
            <a:extLst>
              <a:ext uri="{FF2B5EF4-FFF2-40B4-BE49-F238E27FC236}">
                <a16:creationId xmlns:a16="http://schemas.microsoft.com/office/drawing/2014/main" id="{7416EE00-EDA7-F358-3FE9-CF193C23A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91" y="-3934"/>
            <a:ext cx="7286625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4A298A-185F-BFF0-0FC8-B843715E5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266" y="3428999"/>
            <a:ext cx="2659610" cy="18594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481441-14D5-A655-D60C-32E4B565A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79" y="3428998"/>
            <a:ext cx="4305756" cy="31523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602438-3692-312A-FCE9-6D5E6A51CEAD}"/>
              </a:ext>
            </a:extLst>
          </p:cNvPr>
          <p:cNvSpPr txBox="1"/>
          <p:nvPr/>
        </p:nvSpPr>
        <p:spPr>
          <a:xfrm>
            <a:off x="720979" y="2556387"/>
            <a:ext cx="577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SHAPE :- Shape(</a:t>
            </a:r>
            <a:r>
              <a:rPr lang="en-US" dirty="0" err="1"/>
              <a:t>rows,col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8223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03BC8-8DDF-8497-9C30-DA773364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A6579-9B6D-E8A7-1170-5FEC7AEBA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2967558"/>
            <a:ext cx="5476568" cy="2233233"/>
          </a:xfrm>
        </p:spPr>
        <p:txBody>
          <a:bodyPr/>
          <a:lstStyle/>
          <a:p>
            <a:r>
              <a:rPr lang="en-US" dirty="0"/>
              <a:t>D</a:t>
            </a:r>
            <a:r>
              <a:rPr lang="en-IN" dirty="0"/>
              <a:t>type :- It returns a which type of data stored in array .</a:t>
            </a:r>
          </a:p>
        </p:txBody>
      </p:sp>
      <p:pic>
        <p:nvPicPr>
          <p:cNvPr id="12" name="Picture 2" descr="How to create NumPy arrays from scratch? | Towards Data Science">
            <a:extLst>
              <a:ext uri="{FF2B5EF4-FFF2-40B4-BE49-F238E27FC236}">
                <a16:creationId xmlns:a16="http://schemas.microsoft.com/office/drawing/2014/main" id="{E3645A5F-B50A-D79C-F541-F2ED176E0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30" y="251704"/>
            <a:ext cx="6789635" cy="2715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83EDCD-3654-42E2-37C2-65B73BC3E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45" y="4033229"/>
            <a:ext cx="3833192" cy="17984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E02E46-D5DA-EA29-5F3D-9A0FA2B2FA57}"/>
              </a:ext>
            </a:extLst>
          </p:cNvPr>
          <p:cNvSpPr txBox="1"/>
          <p:nvPr/>
        </p:nvSpPr>
        <p:spPr>
          <a:xfrm>
            <a:off x="6794090" y="1278194"/>
            <a:ext cx="4660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Transpose :- it give transpose of a matrix 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6257BEF-A6CF-2C73-EE19-3930E1E2B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254" y="1824648"/>
            <a:ext cx="2636748" cy="451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633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7A273-AF3A-866B-C9D2-C64302EC7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78770"/>
            <a:ext cx="4306530" cy="4186520"/>
          </a:xfrm>
        </p:spPr>
        <p:txBody>
          <a:bodyPr>
            <a:normAutofit/>
          </a:bodyPr>
          <a:lstStyle/>
          <a:p>
            <a:r>
              <a:rPr lang="en-US" dirty="0" err="1"/>
              <a:t>Np.ones</a:t>
            </a:r>
            <a:r>
              <a:rPr lang="en-US" dirty="0"/>
              <a:t> : </a:t>
            </a:r>
            <a:r>
              <a:rPr lang="en-US" b="1" dirty="0"/>
              <a:t>1️⃣ Initialize data</a:t>
            </a:r>
          </a:p>
          <a:p>
            <a:r>
              <a:rPr lang="en-US" dirty="0"/>
              <a:t>Creates a matrix already filled with known values.</a:t>
            </a:r>
          </a:p>
          <a:p>
            <a:endParaRPr lang="en-US" dirty="0"/>
          </a:p>
          <a:p>
            <a:r>
              <a:rPr lang="en-US" b="1" dirty="0"/>
              <a:t>2️⃣ Testing &amp; debugging</a:t>
            </a:r>
          </a:p>
          <a:p>
            <a:r>
              <a:rPr lang="en-US" dirty="0"/>
              <a:t>Before using a real dataset:</a:t>
            </a:r>
          </a:p>
          <a:p>
            <a:r>
              <a:rPr lang="en-US" dirty="0"/>
              <a:t>test formulas</a:t>
            </a:r>
          </a:p>
          <a:p>
            <a:r>
              <a:rPr lang="en-US" dirty="0"/>
              <a:t>test indexing/slicing</a:t>
            </a:r>
          </a:p>
          <a:p>
            <a:r>
              <a:rPr lang="en-US" dirty="0"/>
              <a:t>test logic safely</a:t>
            </a:r>
          </a:p>
          <a:p>
            <a:endParaRPr lang="en-IN" dirty="0"/>
          </a:p>
        </p:txBody>
      </p:sp>
      <p:pic>
        <p:nvPicPr>
          <p:cNvPr id="5" name="Picture 2" descr="How to create NumPy arrays from scratch? | Towards Data Science">
            <a:extLst>
              <a:ext uri="{FF2B5EF4-FFF2-40B4-BE49-F238E27FC236}">
                <a16:creationId xmlns:a16="http://schemas.microsoft.com/office/drawing/2014/main" id="{59493C0B-33DA-60A4-912D-275EEE329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08" y="192710"/>
            <a:ext cx="5583083" cy="2233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C96317-2360-0A40-91C9-D94939F00E32}"/>
              </a:ext>
            </a:extLst>
          </p:cNvPr>
          <p:cNvSpPr txBox="1"/>
          <p:nvPr/>
        </p:nvSpPr>
        <p:spPr>
          <a:xfrm>
            <a:off x="6513871" y="856283"/>
            <a:ext cx="47342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4️⃣ Feature engineering</a:t>
            </a:r>
          </a:p>
          <a:p>
            <a:pPr>
              <a:buNone/>
            </a:pPr>
            <a:r>
              <a:rPr lang="en-US" sz="2400" dirty="0"/>
              <a:t>When adding columns or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initialize with default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later update selectively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C78CE4-F538-007D-7B97-8B9B74C23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1741" y="2944216"/>
            <a:ext cx="5681003" cy="27978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F0D686-3373-72E1-D85E-84C819B9D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103" y="4109884"/>
            <a:ext cx="3785839" cy="237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72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8834C-9A81-5B4C-5724-6D7E10236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056" y="2177846"/>
            <a:ext cx="10490549" cy="2233233"/>
          </a:xfrm>
        </p:spPr>
        <p:txBody>
          <a:bodyPr/>
          <a:lstStyle/>
          <a:p>
            <a:r>
              <a:rPr lang="en-IN" dirty="0" err="1"/>
              <a:t>np.arrange</a:t>
            </a:r>
            <a:r>
              <a:rPr lang="en-IN" dirty="0"/>
              <a:t> :- </a:t>
            </a:r>
            <a:r>
              <a:rPr lang="en-US" dirty="0" err="1"/>
              <a:t>np.arange</a:t>
            </a:r>
            <a:r>
              <a:rPr lang="en-US" dirty="0"/>
              <a:t>() creates </a:t>
            </a:r>
            <a:r>
              <a:rPr lang="en-US" b="1" dirty="0"/>
              <a:t>evenly spaced values within a given interval</a:t>
            </a:r>
            <a:r>
              <a:rPr lang="en-US" dirty="0"/>
              <a:t>, similar to Python’s range() but returns a </a:t>
            </a:r>
            <a:r>
              <a:rPr lang="en-US" b="1" dirty="0"/>
              <a:t>NumPy array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2" descr="How to create NumPy arrays from scratch? | Towards Data Science">
            <a:extLst>
              <a:ext uri="{FF2B5EF4-FFF2-40B4-BE49-F238E27FC236}">
                <a16:creationId xmlns:a16="http://schemas.microsoft.com/office/drawing/2014/main" id="{BA15A5D3-7DB2-CADA-CCDC-03DA035C9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08" y="192710"/>
            <a:ext cx="5583083" cy="2233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40FA0A-3008-854C-4108-2FBEBF416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49" y="3136491"/>
            <a:ext cx="6155973" cy="27913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8ED777-66CA-0891-209A-1E21D04A6DC5}"/>
              </a:ext>
            </a:extLst>
          </p:cNvPr>
          <p:cNvSpPr txBox="1"/>
          <p:nvPr/>
        </p:nvSpPr>
        <p:spPr>
          <a:xfrm>
            <a:off x="7375175" y="3378019"/>
            <a:ext cx="43345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np.arange</a:t>
            </a:r>
            <a:r>
              <a:rPr lang="en-IN" dirty="0"/>
              <a:t>(start, stop, step, </a:t>
            </a:r>
            <a:r>
              <a:rPr lang="en-IN" dirty="0" err="1"/>
              <a:t>dtype</a:t>
            </a:r>
            <a:r>
              <a:rPr lang="en-IN" dirty="0"/>
              <a:t>=None)</a:t>
            </a:r>
          </a:p>
          <a:p>
            <a:endParaRPr lang="en-IN" dirty="0"/>
          </a:p>
          <a:p>
            <a:r>
              <a:rPr lang="en-IN" dirty="0"/>
              <a:t>start → starting value (included)</a:t>
            </a:r>
          </a:p>
          <a:p>
            <a:endParaRPr lang="en-IN" dirty="0"/>
          </a:p>
          <a:p>
            <a:r>
              <a:rPr lang="en-IN" dirty="0"/>
              <a:t>stop → ending value (excluded)</a:t>
            </a:r>
          </a:p>
          <a:p>
            <a:endParaRPr lang="en-IN" dirty="0"/>
          </a:p>
          <a:p>
            <a:r>
              <a:rPr lang="en-IN" dirty="0"/>
              <a:t>step → difference between values</a:t>
            </a:r>
          </a:p>
          <a:p>
            <a:endParaRPr lang="en-IN" dirty="0"/>
          </a:p>
          <a:p>
            <a:r>
              <a:rPr lang="en-IN" dirty="0" err="1"/>
              <a:t>dtype</a:t>
            </a:r>
            <a:r>
              <a:rPr lang="en-IN" dirty="0"/>
              <a:t> → data type (optional)</a:t>
            </a:r>
          </a:p>
        </p:txBody>
      </p:sp>
    </p:spTree>
    <p:extLst>
      <p:ext uri="{BB962C8B-B14F-4D97-AF65-F5344CB8AC3E}">
        <p14:creationId xmlns:p14="http://schemas.microsoft.com/office/powerpoint/2010/main" val="2598815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85F9-C39F-DB4E-BDBB-0730FC60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40B551-0E18-44AF-D11D-9A376F20B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15" y="765415"/>
            <a:ext cx="6660457" cy="30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05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05FE8-2EBA-FF89-11CF-36C4EF6B5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20" y="2084438"/>
            <a:ext cx="6499794" cy="838600"/>
          </a:xfrm>
        </p:spPr>
        <p:txBody>
          <a:bodyPr/>
          <a:lstStyle/>
          <a:p>
            <a:r>
              <a:rPr lang="en-IN" dirty="0"/>
              <a:t>🔹 What is flatten()?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9C2FB-3524-BA4E-3C95-A36EF206F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3" y="3143822"/>
            <a:ext cx="7325033" cy="1880461"/>
          </a:xfrm>
        </p:spPr>
        <p:txBody>
          <a:bodyPr>
            <a:normAutofit/>
          </a:bodyPr>
          <a:lstStyle/>
          <a:p>
            <a:r>
              <a:rPr lang="en-IN" dirty="0"/>
              <a:t>flatten() converts a </a:t>
            </a:r>
            <a:r>
              <a:rPr lang="en-IN" b="1" dirty="0"/>
              <a:t>multi-dimensional NumPy array into a 1-D array</a:t>
            </a:r>
            <a:r>
              <a:rPr lang="en-IN" dirty="0"/>
              <a:t>.</a:t>
            </a:r>
            <a:r>
              <a:rPr lang="en-US" dirty="0"/>
              <a:t> </a:t>
            </a:r>
          </a:p>
          <a:p>
            <a:r>
              <a:rPr lang="en-US" dirty="0"/>
              <a:t>flatten() </a:t>
            </a:r>
            <a:r>
              <a:rPr lang="en-US" b="1" dirty="0"/>
              <a:t>returns a copy</a:t>
            </a:r>
            <a:r>
              <a:rPr lang="en-US" dirty="0"/>
              <a:t>, not a view.</a:t>
            </a:r>
            <a:endParaRPr lang="en-IN" dirty="0"/>
          </a:p>
        </p:txBody>
      </p:sp>
      <p:pic>
        <p:nvPicPr>
          <p:cNvPr id="5" name="Picture 2" descr="How to create NumPy arrays from scratch? | Towards Data Science">
            <a:extLst>
              <a:ext uri="{FF2B5EF4-FFF2-40B4-BE49-F238E27FC236}">
                <a16:creationId xmlns:a16="http://schemas.microsoft.com/office/drawing/2014/main" id="{1CEB7BF2-A62D-0217-1E66-652994E45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08" y="192710"/>
            <a:ext cx="5583083" cy="2233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5B8455-4BAD-1631-4398-CA2DD02A4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72" y="4505862"/>
            <a:ext cx="10861628" cy="174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06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79285-D927-E4E1-F6C9-25261DF1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04" y="1216513"/>
            <a:ext cx="5259554" cy="707114"/>
          </a:xfrm>
        </p:spPr>
        <p:txBody>
          <a:bodyPr/>
          <a:lstStyle/>
          <a:p>
            <a:r>
              <a:rPr lang="en-US" dirty="0"/>
              <a:t>Ravel()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CC80C46-CFEE-DD48-7632-E106824808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0104" y="2440334"/>
            <a:ext cx="603700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 array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1-D array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(if possible), not a copy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8ECB9C-5B36-8E36-B150-131C6DA42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98" y="4497592"/>
            <a:ext cx="5502117" cy="130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322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5AFBD-DBAD-DCFA-BCBF-FBC05FFD4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453829"/>
            <a:ext cx="7492181" cy="877929"/>
          </a:xfrm>
        </p:spPr>
        <p:txBody>
          <a:bodyPr/>
          <a:lstStyle/>
          <a:p>
            <a:r>
              <a:rPr lang="en-IN" dirty="0"/>
              <a:t>ravel() vs flatten()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8CCF1C6-C100-25F4-51C0-666A44A76E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4365555"/>
              </p:ext>
            </p:extLst>
          </p:nvPr>
        </p:nvGraphicFramePr>
        <p:xfrm>
          <a:off x="815723" y="1655485"/>
          <a:ext cx="5034471" cy="3152490"/>
        </p:xfrm>
        <a:graphic>
          <a:graphicData uri="http://schemas.openxmlformats.org/drawingml/2006/table">
            <a:tbl>
              <a:tblPr/>
              <a:tblGrid>
                <a:gridCol w="1678157">
                  <a:extLst>
                    <a:ext uri="{9D8B030D-6E8A-4147-A177-3AD203B41FA5}">
                      <a16:colId xmlns:a16="http://schemas.microsoft.com/office/drawing/2014/main" val="3879537685"/>
                    </a:ext>
                  </a:extLst>
                </a:gridCol>
                <a:gridCol w="1678157">
                  <a:extLst>
                    <a:ext uri="{9D8B030D-6E8A-4147-A177-3AD203B41FA5}">
                      <a16:colId xmlns:a16="http://schemas.microsoft.com/office/drawing/2014/main" val="2145519795"/>
                    </a:ext>
                  </a:extLst>
                </a:gridCol>
                <a:gridCol w="1678157">
                  <a:extLst>
                    <a:ext uri="{9D8B030D-6E8A-4147-A177-3AD203B41FA5}">
                      <a16:colId xmlns:a16="http://schemas.microsoft.com/office/drawing/2014/main" val="243411429"/>
                    </a:ext>
                  </a:extLst>
                </a:gridCol>
              </a:tblGrid>
              <a:tr h="525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Feature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ourier New" panose="02070309020205020404" pitchFamily="49" charset="0"/>
                        </a:rPr>
                        <a:t>ravel()</a:t>
                      </a:r>
                      <a:endParaRPr lang="en-IN" sz="1600" b="1" dirty="0"/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ourier New" panose="02070309020205020404" pitchFamily="49" charset="0"/>
                        </a:rPr>
                        <a:t>flatten()</a:t>
                      </a:r>
                      <a:endParaRPr lang="en-IN" sz="1600" b="1" dirty="0"/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537599"/>
                  </a:ext>
                </a:extLst>
              </a:tr>
              <a:tr h="525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Returns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View</a:t>
                      </a:r>
                      <a:r>
                        <a:rPr lang="en-IN" sz="900"/>
                        <a:t> (if possible)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Copy</a:t>
                      </a:r>
                      <a:endParaRPr lang="en-IN" sz="900" dirty="0"/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28800"/>
                  </a:ext>
                </a:extLst>
              </a:tr>
              <a:tr h="525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Memory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Efficient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Uses extra memory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235939"/>
                  </a:ext>
                </a:extLst>
              </a:tr>
              <a:tr h="525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Speed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Faster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Slightly slower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846251"/>
                  </a:ext>
                </a:extLst>
              </a:tr>
              <a:tr h="525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Changes affect original?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⚠️ Yes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❌ No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852612"/>
                  </a:ext>
                </a:extLst>
              </a:tr>
              <a:tr h="525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Safe to modify?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❌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✅</a:t>
                      </a:r>
                    </a:p>
                  </a:txBody>
                  <a:tcPr marL="45067" marR="45067" marT="22534" marB="22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19316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9544F11-56FB-DAE7-AD50-9DDD47AAE425}"/>
              </a:ext>
            </a:extLst>
          </p:cNvPr>
          <p:cNvSpPr txBox="1"/>
          <p:nvPr/>
        </p:nvSpPr>
        <p:spPr>
          <a:xfrm>
            <a:off x="6543367" y="1405616"/>
            <a:ext cx="41049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Use </a:t>
            </a:r>
            <a:r>
              <a:rPr lang="en-US" b="1" dirty="0">
                <a:latin typeface="Courier New" panose="02070309020205020404" pitchFamily="49" charset="0"/>
              </a:rPr>
              <a:t>ravel()</a:t>
            </a:r>
            <a:r>
              <a:rPr lang="en-US" b="1" dirty="0"/>
              <a:t>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Performance matters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Read-only or temporary use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5C8A6A-5543-EA95-AC20-1A1F4C6BDCD1}"/>
              </a:ext>
            </a:extLst>
          </p:cNvPr>
          <p:cNvSpPr txBox="1"/>
          <p:nvPr/>
        </p:nvSpPr>
        <p:spPr>
          <a:xfrm>
            <a:off x="6543367" y="3051727"/>
            <a:ext cx="31315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Use </a:t>
            </a:r>
            <a:r>
              <a:rPr lang="en-US" b="1" dirty="0">
                <a:latin typeface="Courier New" panose="02070309020205020404" pitchFamily="49" charset="0"/>
              </a:rPr>
              <a:t>flatten()</a:t>
            </a:r>
            <a:r>
              <a:rPr lang="en-US" b="1" dirty="0"/>
              <a:t>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will modify the result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need data safety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ML preprocessing steps</a:t>
            </a:r>
          </a:p>
        </p:txBody>
      </p:sp>
    </p:spTree>
    <p:extLst>
      <p:ext uri="{BB962C8B-B14F-4D97-AF65-F5344CB8AC3E}">
        <p14:creationId xmlns:p14="http://schemas.microsoft.com/office/powerpoint/2010/main" val="2848818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2475-456D-8992-5F13-49BF98514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871" y="3076498"/>
            <a:ext cx="2487103" cy="705004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SLICING 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9C7BE-D5F9-62ED-10EC-88D5D34AF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3613" y="887965"/>
            <a:ext cx="6823587" cy="5082070"/>
          </a:xfrm>
        </p:spPr>
        <p:txBody>
          <a:bodyPr>
            <a:normAutofit/>
          </a:bodyPr>
          <a:lstStyle/>
          <a:p>
            <a:r>
              <a:rPr lang="en-US" dirty="0"/>
              <a:t>Slicing in python means taking elements from one given index to another given index.</a:t>
            </a:r>
          </a:p>
          <a:p>
            <a:endParaRPr lang="en-US" dirty="0"/>
          </a:p>
          <a:p>
            <a:r>
              <a:rPr lang="en-US" dirty="0"/>
              <a:t>We pass slice instead of index like this: [</a:t>
            </a:r>
            <a:r>
              <a:rPr lang="en-US" i="1" dirty="0" err="1"/>
              <a:t>start</a:t>
            </a:r>
            <a:r>
              <a:rPr lang="en-US" dirty="0" err="1"/>
              <a:t>:</a:t>
            </a:r>
            <a:r>
              <a:rPr lang="en-US" i="1" dirty="0" err="1"/>
              <a:t>end</a:t>
            </a:r>
            <a:r>
              <a:rPr lang="en-US" dirty="0"/>
              <a:t>].</a:t>
            </a:r>
          </a:p>
          <a:p>
            <a:r>
              <a:rPr lang="en-US" dirty="0"/>
              <a:t>We can also define the step, like this: [</a:t>
            </a:r>
            <a:r>
              <a:rPr lang="en-US" i="1" dirty="0"/>
              <a:t>start </a:t>
            </a:r>
            <a:r>
              <a:rPr lang="en-US" dirty="0"/>
              <a:t>: </a:t>
            </a:r>
            <a:r>
              <a:rPr lang="en-US" i="1" dirty="0"/>
              <a:t>end </a:t>
            </a:r>
            <a:r>
              <a:rPr lang="en-US" dirty="0"/>
              <a:t>: </a:t>
            </a:r>
            <a:r>
              <a:rPr lang="en-US" i="1" dirty="0"/>
              <a:t>step</a:t>
            </a:r>
            <a:r>
              <a:rPr lang="en-US" dirty="0"/>
              <a:t>].</a:t>
            </a:r>
          </a:p>
          <a:p>
            <a:endParaRPr lang="en-US" dirty="0"/>
          </a:p>
          <a:p>
            <a:r>
              <a:rPr lang="en-US" dirty="0"/>
              <a:t>If we don't pass start its considered 0</a:t>
            </a:r>
          </a:p>
          <a:p>
            <a:endParaRPr lang="en-US" dirty="0"/>
          </a:p>
          <a:p>
            <a:r>
              <a:rPr lang="en-US" dirty="0"/>
              <a:t>If we don't pass end its considered length of array in that dimension</a:t>
            </a:r>
          </a:p>
          <a:p>
            <a:endParaRPr lang="en-US" dirty="0"/>
          </a:p>
          <a:p>
            <a:r>
              <a:rPr lang="en-US" dirty="0"/>
              <a:t>If we don't pass step its considered 1</a:t>
            </a:r>
          </a:p>
          <a:p>
            <a:endParaRPr lang="en-IN" dirty="0"/>
          </a:p>
        </p:txBody>
      </p:sp>
      <p:pic>
        <p:nvPicPr>
          <p:cNvPr id="5" name="Picture 2" descr="How to create NumPy arrays from scratch? | Towards Data Science">
            <a:extLst>
              <a:ext uri="{FF2B5EF4-FFF2-40B4-BE49-F238E27FC236}">
                <a16:creationId xmlns:a16="http://schemas.microsoft.com/office/drawing/2014/main" id="{39999543-F880-0822-CEC7-50B51B48D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84" y="212400"/>
            <a:ext cx="5583083" cy="2233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Learn Slicing in 2D Arrays | Indexing and Slicing">
            <a:extLst>
              <a:ext uri="{FF2B5EF4-FFF2-40B4-BE49-F238E27FC236}">
                <a16:creationId xmlns:a16="http://schemas.microsoft.com/office/drawing/2014/main" id="{E425162C-1A30-F40E-F700-A0E30313E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542788"/>
            <a:ext cx="4895529" cy="275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0944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5FA70-FAF2-A2B3-EB1F-0E782BA5A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3" y="356819"/>
            <a:ext cx="11262853" cy="1300716"/>
          </a:xfrm>
        </p:spPr>
        <p:txBody>
          <a:bodyPr/>
          <a:lstStyle/>
          <a:p>
            <a:r>
              <a:rPr lang="en-US" b="0" dirty="0"/>
              <a:t>Slice elements from index 1 to index 5 from the following array: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0CDC56-841E-CB9A-9F6E-6DD71EC91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138" y="1868587"/>
            <a:ext cx="6165862" cy="23624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628563-61DE-B3E3-090A-6159288E6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910" y="3033781"/>
            <a:ext cx="4046571" cy="3467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A5814C-C78A-6BF5-1BC7-96B7F812B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4442044"/>
            <a:ext cx="4389500" cy="23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33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298254-47F2-4C9F-5151-BD7070D8825C}"/>
              </a:ext>
            </a:extLst>
          </p:cNvPr>
          <p:cNvSpPr/>
          <p:nvPr/>
        </p:nvSpPr>
        <p:spPr>
          <a:xfrm>
            <a:off x="5230761" y="529642"/>
            <a:ext cx="3824749" cy="18091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360EC3-7911-B4C9-4C7E-F06C2087D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5897" y="727819"/>
            <a:ext cx="3677265" cy="1202393"/>
          </a:xfrm>
        </p:spPr>
        <p:txBody>
          <a:bodyPr/>
          <a:lstStyle/>
          <a:p>
            <a:r>
              <a:rPr lang="en-US" dirty="0"/>
              <a:t>ARITHMATIC OPREATIONS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83778-C73E-16D9-C1FB-D06D923FF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530" y="1868478"/>
            <a:ext cx="2625212" cy="501213"/>
          </a:xfrm>
        </p:spPr>
        <p:txBody>
          <a:bodyPr/>
          <a:lstStyle/>
          <a:p>
            <a:r>
              <a:rPr lang="en-US" dirty="0"/>
              <a:t>ADDING ARRAY </a:t>
            </a:r>
            <a:endParaRPr lang="en-IN" dirty="0"/>
          </a:p>
        </p:txBody>
      </p:sp>
      <p:pic>
        <p:nvPicPr>
          <p:cNvPr id="4" name="Picture 2" descr="How to create NumPy arrays from scratch? | Towards Data Science">
            <a:extLst>
              <a:ext uri="{FF2B5EF4-FFF2-40B4-BE49-F238E27FC236}">
                <a16:creationId xmlns:a16="http://schemas.microsoft.com/office/drawing/2014/main" id="{5C2F72FB-008F-B64E-0CC7-05C12121A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36" y="212401"/>
            <a:ext cx="5583083" cy="199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31EBEF-CCF9-1DB2-1C1F-5E0AFD338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01" y="2505000"/>
            <a:ext cx="5220152" cy="42218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41E111-BF96-739F-A333-A2F3A5220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51656"/>
            <a:ext cx="2880610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64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0D73-D7B6-137F-B90A-6C3FD23B4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10" y="440962"/>
            <a:ext cx="5259554" cy="750109"/>
          </a:xfrm>
        </p:spPr>
        <p:txBody>
          <a:bodyPr/>
          <a:lstStyle/>
          <a:p>
            <a:r>
              <a:rPr lang="en-US" dirty="0"/>
              <a:t>SUBSTRACTION</a:t>
            </a:r>
            <a:endParaRPr lang="en-IN" dirty="0"/>
          </a:p>
        </p:txBody>
      </p:sp>
      <p:sp>
        <p:nvSpPr>
          <p:cNvPr id="5" name="AutoShape 2" descr="Subtraction of Matrices - GeeksforGeeks">
            <a:extLst>
              <a:ext uri="{FF2B5EF4-FFF2-40B4-BE49-F238E27FC236}">
                <a16:creationId xmlns:a16="http://schemas.microsoft.com/office/drawing/2014/main" id="{2B4BA0A8-B08C-90B9-8A50-E1E251E795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73EBA9-8EBB-8AD8-58E7-197DCC512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21" y="1493339"/>
            <a:ext cx="2758679" cy="41761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DCF4C3-8B3F-509D-4072-63DDEB54D118}"/>
              </a:ext>
            </a:extLst>
          </p:cNvPr>
          <p:cNvSpPr txBox="1"/>
          <p:nvPr/>
        </p:nvSpPr>
        <p:spPr>
          <a:xfrm>
            <a:off x="5780664" y="553601"/>
            <a:ext cx="4921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/>
                </a:solidFill>
                <a:latin typeface="Arial Black" panose="020B0A04020102020204" pitchFamily="34" charset="0"/>
              </a:rPr>
              <a:t>MULTIPLICATION</a:t>
            </a:r>
            <a:endParaRPr lang="en-IN" sz="3600" b="1" dirty="0">
              <a:solidFill>
                <a:schemeClr val="accent6"/>
              </a:solidFill>
              <a:latin typeface="Arial Black" panose="020B0A040201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EB6C0A-9124-B3F5-2883-567986169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425" y="1459046"/>
            <a:ext cx="3307367" cy="42447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FF3E30-9FBD-C455-D495-66386DE6F906}"/>
              </a:ext>
            </a:extLst>
          </p:cNvPr>
          <p:cNvSpPr txBox="1"/>
          <p:nvPr/>
        </p:nvSpPr>
        <p:spPr>
          <a:xfrm>
            <a:off x="3633019" y="1878412"/>
            <a:ext cx="43016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MULTIPLICATION IS WHICH WE LEARN COLUMN MULTIPLY ROW AND ADD , IT MULTIPLY ONLY BASIS ON  INDEX SUCH AS (0,1)*(0,1)</a:t>
            </a:r>
          </a:p>
          <a:p>
            <a:endParaRPr lang="en-US" dirty="0"/>
          </a:p>
          <a:p>
            <a:r>
              <a:rPr lang="en-US" dirty="0"/>
              <a:t>NORMAL MULTIPLY WE SEEN AFTER DIVISION </a:t>
            </a:r>
          </a:p>
        </p:txBody>
      </p:sp>
    </p:spTree>
    <p:extLst>
      <p:ext uri="{BB962C8B-B14F-4D97-AF65-F5344CB8AC3E}">
        <p14:creationId xmlns:p14="http://schemas.microsoft.com/office/powerpoint/2010/main" val="3795792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E517E-245C-8B73-5C27-B6D630C0A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5" y="470459"/>
            <a:ext cx="2674374" cy="691116"/>
          </a:xfrm>
        </p:spPr>
        <p:txBody>
          <a:bodyPr/>
          <a:lstStyle/>
          <a:p>
            <a:r>
              <a:rPr lang="en-US" dirty="0"/>
              <a:t>DIVISION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12746-0C35-203D-8AF5-8F4565AD1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2" y="1409525"/>
            <a:ext cx="4465707" cy="4038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916B2C-A38E-8FE8-7CB8-756770266E32}"/>
              </a:ext>
            </a:extLst>
          </p:cNvPr>
          <p:cNvSpPr txBox="1"/>
          <p:nvPr/>
        </p:nvSpPr>
        <p:spPr>
          <a:xfrm>
            <a:off x="4996649" y="634927"/>
            <a:ext cx="68807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6"/>
                </a:solidFill>
                <a:latin typeface="Arial Black" panose="020B0A04020102020204" pitchFamily="34" charset="0"/>
              </a:rPr>
              <a:t>MULTIPLY(ROW*COLUMN)</a:t>
            </a:r>
            <a:endParaRPr lang="en-IN" sz="3600" dirty="0">
              <a:solidFill>
                <a:schemeClr val="accent6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4615BB-6296-BBBA-46BA-B2D8C7E7F248}"/>
              </a:ext>
            </a:extLst>
          </p:cNvPr>
          <p:cNvSpPr txBox="1"/>
          <p:nvPr/>
        </p:nvSpPr>
        <p:spPr>
          <a:xfrm>
            <a:off x="5477498" y="1257300"/>
            <a:ext cx="591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have to make row of first matrix = col of second matrix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E3D2DF-DC69-F252-239C-D718CC0D1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498" y="2027624"/>
            <a:ext cx="5919020" cy="40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532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A1AD7-E110-6F78-2C99-AA85828A5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57706"/>
            <a:ext cx="5370597" cy="576438"/>
          </a:xfrm>
        </p:spPr>
        <p:txBody>
          <a:bodyPr/>
          <a:lstStyle/>
          <a:p>
            <a:r>
              <a:rPr lang="en-US" dirty="0"/>
              <a:t>It is dot product of two matrix</a:t>
            </a:r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A3FD988-36AA-6BE0-C304-88A14761C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20" y="393290"/>
            <a:ext cx="7462684" cy="671451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MULTIPLY(ROW*COLUMN)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478891-9872-93E6-26C1-AC5B0F636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03" y="1420956"/>
            <a:ext cx="4999153" cy="4016088"/>
          </a:xfrm>
          <a:prstGeom prst="rect">
            <a:avLst/>
          </a:prstGeom>
        </p:spPr>
      </p:pic>
      <p:pic>
        <p:nvPicPr>
          <p:cNvPr id="2050" name="Picture 2" descr="Matrix Multiplication in Python | Board Infinity">
            <a:extLst>
              <a:ext uri="{FF2B5EF4-FFF2-40B4-BE49-F238E27FC236}">
                <a16:creationId xmlns:a16="http://schemas.microsoft.com/office/drawing/2014/main" id="{9DD4DE2C-E66D-C559-72E0-ABF1C84C0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130" y="2005780"/>
            <a:ext cx="5060336" cy="284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85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0D14-D1AC-6D7B-434B-5F54B3418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11" y="413638"/>
            <a:ext cx="5259554" cy="1153232"/>
          </a:xfrm>
        </p:spPr>
        <p:txBody>
          <a:bodyPr/>
          <a:lstStyle/>
          <a:p>
            <a:r>
              <a:rPr lang="en-US" dirty="0"/>
              <a:t>MAX AND MIN OF ARRAY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895197-AC8D-09FA-8111-9FD2A4A56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73" y="2072180"/>
            <a:ext cx="3075269" cy="32077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DEE8D1-E160-5AAA-1FAD-B081AE56C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708" y="2072180"/>
            <a:ext cx="2848370" cy="3192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08919E-4616-842B-A253-8DD6ACDDE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331" y="2072180"/>
            <a:ext cx="3706157" cy="319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69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9033-145B-931F-B121-7718A5934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11" y="410780"/>
            <a:ext cx="4448957" cy="442428"/>
          </a:xfrm>
        </p:spPr>
        <p:txBody>
          <a:bodyPr/>
          <a:lstStyle/>
          <a:p>
            <a:r>
              <a:rPr lang="en-US" sz="1800" dirty="0"/>
              <a:t>Sum of all element of array</a:t>
            </a:r>
            <a:endParaRPr lang="en-IN" sz="1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C380EF-DEC8-F789-FF2A-4FECBE9E8A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437" y="1154061"/>
            <a:ext cx="4260307" cy="34260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2C039D-5296-163F-D90B-10B39CE059DE}"/>
              </a:ext>
            </a:extLst>
          </p:cNvPr>
          <p:cNvSpPr txBox="1"/>
          <p:nvPr/>
        </p:nvSpPr>
        <p:spPr>
          <a:xfrm>
            <a:off x="5140435" y="1147916"/>
            <a:ext cx="6528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Arial Black" panose="020B0A04020102020204" pitchFamily="34" charset="0"/>
              </a:rPr>
              <a:t>SUM OF ALL ELEMENTS IN ARRAY ROWWISE AND COLUMNWISE </a:t>
            </a:r>
            <a:endParaRPr lang="en-IN" dirty="0">
              <a:solidFill>
                <a:schemeClr val="accent6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2274EC-69AF-DD37-08F5-295BD81B2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710" y="3204459"/>
            <a:ext cx="3763103" cy="27512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C5048D-F785-4290-DE54-90CF514AD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5813" y="3204459"/>
            <a:ext cx="3428512" cy="27512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912935-B602-AB1E-58AB-33FD7B6FC94B}"/>
              </a:ext>
            </a:extLst>
          </p:cNvPr>
          <p:cNvSpPr txBox="1"/>
          <p:nvPr/>
        </p:nvSpPr>
        <p:spPr>
          <a:xfrm>
            <a:off x="5140435" y="1868129"/>
            <a:ext cx="6412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Axis=0 :- returns </a:t>
            </a:r>
            <a:r>
              <a:rPr lang="en-US" dirty="0" err="1"/>
              <a:t>columnwise</a:t>
            </a:r>
            <a:r>
              <a:rPr lang="en-US" dirty="0"/>
              <a:t> sum , axis =1 returns row wise sum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3480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72BB6-D1B5-DD15-18B4-D60304E1B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439533"/>
            <a:ext cx="5259554" cy="376484"/>
          </a:xfrm>
        </p:spPr>
        <p:txBody>
          <a:bodyPr/>
          <a:lstStyle/>
          <a:p>
            <a:r>
              <a:rPr lang="en-US" sz="1800" dirty="0"/>
              <a:t>FINDING SQUARE ROOT OF ARRAY</a:t>
            </a:r>
            <a:endParaRPr lang="en-IN" sz="18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3F28853-CDD1-6014-E38C-E72666790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931" y="3148440"/>
            <a:ext cx="5259388" cy="20086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BC8E83-4633-08DE-76AA-DA31DDE7D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27" y="969497"/>
            <a:ext cx="3901778" cy="19889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D9DF9F-5A04-8902-FC69-213EF49841BE}"/>
              </a:ext>
            </a:extLst>
          </p:cNvPr>
          <p:cNvSpPr txBox="1"/>
          <p:nvPr/>
        </p:nvSpPr>
        <p:spPr>
          <a:xfrm>
            <a:off x="6400800" y="969497"/>
            <a:ext cx="4925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Arial Black" panose="020B0A04020102020204" pitchFamily="34" charset="0"/>
              </a:rPr>
              <a:t>FINDING STD DEVIATION OF MATRIX </a:t>
            </a:r>
            <a:endParaRPr lang="en-IN" dirty="0">
              <a:solidFill>
                <a:schemeClr val="accent6"/>
              </a:solidFill>
              <a:latin typeface="Arial Black" panose="020B0A040201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5549D3-96C5-8A8C-8804-D04E12CDE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699" y="1597030"/>
            <a:ext cx="4801175" cy="242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04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56D43-F62E-05CA-F46F-4B09007E7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66" y="285749"/>
            <a:ext cx="6424679" cy="633873"/>
          </a:xfrm>
        </p:spPr>
        <p:txBody>
          <a:bodyPr/>
          <a:lstStyle/>
          <a:p>
            <a:r>
              <a:rPr lang="en-US" sz="2200" dirty="0"/>
              <a:t>Find log of element in the array</a:t>
            </a:r>
            <a:endParaRPr lang="en-IN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29C0538-151B-9410-0068-5A92CCC473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979" y="1057274"/>
            <a:ext cx="4971143" cy="3919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F7A7F0-E1E8-BFEF-97D9-DFD2F5C11724}"/>
              </a:ext>
            </a:extLst>
          </p:cNvPr>
          <p:cNvSpPr txBox="1"/>
          <p:nvPr/>
        </p:nvSpPr>
        <p:spPr>
          <a:xfrm>
            <a:off x="6902245" y="1183298"/>
            <a:ext cx="5545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accent6"/>
                </a:solidFill>
                <a:latin typeface="Arial Black" panose="020B0A04020102020204" pitchFamily="34" charset="0"/>
              </a:rPr>
              <a:t>Find the transpose of matrix</a:t>
            </a:r>
            <a:endParaRPr lang="en-IN" sz="2200" dirty="0">
              <a:solidFill>
                <a:schemeClr val="accent6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389C45-20C8-9D0E-F48D-FE8A1A31C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878" y="1877861"/>
            <a:ext cx="4680273" cy="395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411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717C3-8BCC-26ED-3557-D3A71A2FC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09" y="293478"/>
            <a:ext cx="7000568" cy="730445"/>
          </a:xfrm>
        </p:spPr>
        <p:txBody>
          <a:bodyPr/>
          <a:lstStyle/>
          <a:p>
            <a:r>
              <a:rPr lang="en-US" dirty="0"/>
              <a:t>🔹 What does mean do?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6A97B-85D2-EE48-B5CA-297B99B68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83" y="1173705"/>
            <a:ext cx="8327923" cy="487946"/>
          </a:xfrm>
        </p:spPr>
        <p:txBody>
          <a:bodyPr/>
          <a:lstStyle/>
          <a:p>
            <a:r>
              <a:rPr lang="en-US" dirty="0"/>
              <a:t>It calculates the </a:t>
            </a:r>
            <a:r>
              <a:rPr lang="en-US" b="1" dirty="0"/>
              <a:t>sum of values ÷ number of values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23E643-E02B-C8E2-7966-87D6C29951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83" y="1518470"/>
            <a:ext cx="8239125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075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C66B-5021-96DA-8921-DCDCCF9E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11" y="521110"/>
            <a:ext cx="5259554" cy="1163064"/>
          </a:xfrm>
        </p:spPr>
        <p:txBody>
          <a:bodyPr/>
          <a:lstStyle/>
          <a:p>
            <a:r>
              <a:rPr lang="en-US" dirty="0"/>
              <a:t>Trigonometric operations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84573-7F0D-A6A3-E8D2-678E5D0AF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552" y="1998079"/>
            <a:ext cx="5751871" cy="1284359"/>
          </a:xfrm>
        </p:spPr>
        <p:txBody>
          <a:bodyPr/>
          <a:lstStyle/>
          <a:p>
            <a:r>
              <a:rPr lang="en-US" dirty="0"/>
              <a:t>First import matplotlib because we </a:t>
            </a:r>
            <a:r>
              <a:rPr lang="en-US" dirty="0" err="1"/>
              <a:t>ploting</a:t>
            </a:r>
            <a:r>
              <a:rPr lang="en-US" dirty="0"/>
              <a:t> the graphs of trigonometric functions </a:t>
            </a:r>
            <a:endParaRPr lang="en-IN" dirty="0"/>
          </a:p>
        </p:txBody>
      </p:sp>
      <p:sp>
        <p:nvSpPr>
          <p:cNvPr id="6" name="AutoShape 8" descr="Trigonometry PNG Images - CleanPNG">
            <a:extLst>
              <a:ext uri="{FF2B5EF4-FFF2-40B4-BE49-F238E27FC236}">
                <a16:creationId xmlns:a16="http://schemas.microsoft.com/office/drawing/2014/main" id="{F4C89B87-0888-35F0-FA81-AD570AB0ED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04554" y="2243587"/>
            <a:ext cx="2918347" cy="2918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9636C-E621-36F7-310E-1E4E32CA9BEE}"/>
              </a:ext>
            </a:extLst>
          </p:cNvPr>
          <p:cNvSpPr txBox="1"/>
          <p:nvPr/>
        </p:nvSpPr>
        <p:spPr>
          <a:xfrm>
            <a:off x="504552" y="3292270"/>
            <a:ext cx="5751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stated value of pi by :- </a:t>
            </a:r>
            <a:r>
              <a:rPr lang="en-US" dirty="0" err="1"/>
              <a:t>np.pi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550567-2F16-7505-8266-E76E5F2EF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608" y="3073008"/>
            <a:ext cx="2636748" cy="9830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8BC454-01AA-FBA3-9B29-A13225BB1992}"/>
              </a:ext>
            </a:extLst>
          </p:cNvPr>
          <p:cNvSpPr txBox="1"/>
          <p:nvPr/>
        </p:nvSpPr>
        <p:spPr>
          <a:xfrm>
            <a:off x="504552" y="4993242"/>
            <a:ext cx="5958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FINDING VALUES BY USING </a:t>
            </a:r>
            <a:r>
              <a:rPr lang="en-US" dirty="0" err="1"/>
              <a:t>np.sin</a:t>
            </a:r>
            <a:r>
              <a:rPr lang="en-US" dirty="0"/>
              <a:t>(</a:t>
            </a:r>
            <a:r>
              <a:rPr lang="en-US" dirty="0" err="1"/>
              <a:t>np.pi</a:t>
            </a:r>
            <a:r>
              <a:rPr lang="en-US" dirty="0"/>
              <a:t>/3) #60 degree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E9849E-13A4-452A-373C-A93C61F39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969" y="4166130"/>
            <a:ext cx="3231160" cy="2392887"/>
          </a:xfrm>
          <a:prstGeom prst="rect">
            <a:avLst/>
          </a:prstGeom>
        </p:spPr>
      </p:pic>
      <p:pic>
        <p:nvPicPr>
          <p:cNvPr id="1040" name="Picture 16" descr="A Taste of Trigonometry in Algebra 2 – Lexington Public Schools">
            <a:extLst>
              <a:ext uri="{FF2B5EF4-FFF2-40B4-BE49-F238E27FC236}">
                <a16:creationId xmlns:a16="http://schemas.microsoft.com/office/drawing/2014/main" id="{9ACCCF18-3C94-3029-325F-305AEED9C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906" y="642771"/>
            <a:ext cx="3182641" cy="311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1513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70808-BE09-8E31-9504-CDEA414B3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71" y="519620"/>
            <a:ext cx="5259554" cy="592793"/>
          </a:xfrm>
        </p:spPr>
        <p:txBody>
          <a:bodyPr/>
          <a:lstStyle/>
          <a:p>
            <a:r>
              <a:rPr lang="en-US" dirty="0"/>
              <a:t>Graphs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E0707-DA16-EA8C-1AAF-D2A1DC815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311357"/>
            <a:ext cx="2133599" cy="497779"/>
          </a:xfrm>
        </p:spPr>
        <p:txBody>
          <a:bodyPr/>
          <a:lstStyle/>
          <a:p>
            <a:r>
              <a:rPr lang="en-US" dirty="0"/>
              <a:t>Straight line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1C7B70-E19A-2E63-1FD3-FC714A8C5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1809136"/>
            <a:ext cx="4414684" cy="2385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8E0381-D657-5B47-B80B-CA0BD8795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683" y="2134949"/>
            <a:ext cx="5845047" cy="429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18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0DB0C-70DE-02DD-FDAC-11B2FEDCB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11" y="481780"/>
            <a:ext cx="3401470" cy="828768"/>
          </a:xfrm>
        </p:spPr>
        <p:txBody>
          <a:bodyPr/>
          <a:lstStyle/>
          <a:p>
            <a:r>
              <a:rPr lang="en-US" dirty="0"/>
              <a:t>Sin curve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AA6E8-276D-4D2D-9B93-164F0ACE7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64" y="1668547"/>
            <a:ext cx="4450466" cy="2537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6B6750-6A88-CF0E-38F5-976B68944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155" y="1686232"/>
            <a:ext cx="55911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04573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{0372D3C2-6C9D-47B7-B36F-072BEF1215BA}TF8a9b5915-b8c7-461e-8cdd-693d48b5e32371f7b7e2_win32-4bf0b9a2ea37</Template>
  <TotalTime>1333</TotalTime>
  <Words>978</Words>
  <Application>Microsoft Office PowerPoint</Application>
  <PresentationFormat>Widescreen</PresentationFormat>
  <Paragraphs>153</Paragraphs>
  <Slides>32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Arial Black</vt:lpstr>
      <vt:lpstr>Calibri</vt:lpstr>
      <vt:lpstr>Courier New</vt:lpstr>
      <vt:lpstr>Sabon Next LT</vt:lpstr>
      <vt:lpstr>Custom</vt:lpstr>
      <vt:lpstr>Data Analysis &amp; Visualisation</vt:lpstr>
      <vt:lpstr>agenda</vt:lpstr>
      <vt:lpstr>SET UP ENV IN VS CODE </vt:lpstr>
      <vt:lpstr>INTRODUCTION TO NUMPY</vt:lpstr>
      <vt:lpstr>PowerPoint Presentation</vt:lpstr>
      <vt:lpstr>PowerPoint Presentation</vt:lpstr>
      <vt:lpstr>Why is NumPy Faster Than Lists ? </vt:lpstr>
      <vt:lpstr>BASIC OPRETIONS OF NUMpY</vt:lpstr>
      <vt:lpstr>array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🔹 What is flatten()?</vt:lpstr>
      <vt:lpstr>Ravel()</vt:lpstr>
      <vt:lpstr>ravel() vs flatten()</vt:lpstr>
      <vt:lpstr> SLICING  </vt:lpstr>
      <vt:lpstr>Slice elements from index 1 to index 5 from the following array:</vt:lpstr>
      <vt:lpstr>ARITHMATIC OPREATIONS</vt:lpstr>
      <vt:lpstr>SUBSTRACTION</vt:lpstr>
      <vt:lpstr>DIVISION</vt:lpstr>
      <vt:lpstr>MULTIPLY(ROW*COLUMN)</vt:lpstr>
      <vt:lpstr>MAX AND MIN OF ARRAY</vt:lpstr>
      <vt:lpstr>Sum of all element of array</vt:lpstr>
      <vt:lpstr>FINDING SQUARE ROOT OF ARRAY</vt:lpstr>
      <vt:lpstr>Find log of element in the array</vt:lpstr>
      <vt:lpstr>🔹 What does mean do?</vt:lpstr>
      <vt:lpstr>Trigonometric operations</vt:lpstr>
      <vt:lpstr>Graphs  </vt:lpstr>
      <vt:lpstr>Sin curve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Vishwas Kadam</dc:creator>
  <cp:lastModifiedBy>Vishwas Kadam</cp:lastModifiedBy>
  <cp:revision>8</cp:revision>
  <dcterms:created xsi:type="dcterms:W3CDTF">2026-01-27T13:26:50Z</dcterms:created>
  <dcterms:modified xsi:type="dcterms:W3CDTF">2026-01-30T13:26:39Z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